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1" r:id="rId6"/>
    <p:sldId id="265" r:id="rId7"/>
    <p:sldId id="270" r:id="rId8"/>
    <p:sldId id="271" r:id="rId9"/>
    <p:sldId id="272" r:id="rId10"/>
    <p:sldId id="266" r:id="rId11"/>
    <p:sldId id="267" r:id="rId12"/>
    <p:sldId id="268" r:id="rId13"/>
    <p:sldId id="269"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E884F3-D339-4954-9F04-12CE8627743C}" v="673" dt="2026-05-13T16:11:28.1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vitejs.dev/" TargetMode="External"/><Relationship Id="rId7" Type="http://schemas.openxmlformats.org/officeDocument/2006/relationships/hyperlink" Target="https://nodejs.org/en/docs" TargetMode="External"/><Relationship Id="rId2" Type="http://schemas.openxmlformats.org/officeDocument/2006/relationships/hyperlink" Target="https://react.dev/" TargetMode="External"/><Relationship Id="rId1" Type="http://schemas.openxmlformats.org/officeDocument/2006/relationships/slideLayout" Target="../slideLayouts/slideLayout6.xml"/><Relationship Id="rId6" Type="http://schemas.openxmlformats.org/officeDocument/2006/relationships/hyperlink" Target="https://expressjs.com/" TargetMode="External"/><Relationship Id="rId5" Type="http://schemas.openxmlformats.org/officeDocument/2006/relationships/hyperlink" Target="https://www.mongodb.com/docs" TargetMode="External"/><Relationship Id="rId4" Type="http://schemas.openxmlformats.org/officeDocument/2006/relationships/hyperlink" Target="https://tailwindcss.com/doc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1105095"/>
            <a:ext cx="9143640" cy="5752545"/>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a:t>
            </a:r>
            <a:r>
              <a:rPr lang="en-IN" b="1" dirty="0">
                <a:solidFill>
                  <a:schemeClr val="dk1"/>
                </a:solidFill>
                <a:latin typeface="Times New Roman"/>
                <a:ea typeface="Calibri"/>
              </a:rPr>
              <a:t>IOHE</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err="1">
                <a:solidFill>
                  <a:schemeClr val="dk1"/>
                </a:solidFill>
                <a:latin typeface="Times New Roman"/>
                <a:ea typeface="Calibri"/>
              </a:rPr>
              <a:t>SmartSpace</a:t>
            </a:r>
            <a:endParaRPr lang="en-US" sz="4800" dirty="0">
              <a:solidFill>
                <a:schemeClr val="dk1"/>
              </a:solidFill>
              <a:latin typeface="Times New Roman"/>
              <a:ea typeface="Calibri"/>
            </a:endParaRPr>
          </a:p>
          <a:p>
            <a:pPr algn="ctr" defTabSz="914400">
              <a:lnSpc>
                <a:spcPct val="100000"/>
              </a:lnSpc>
              <a:spcBef>
                <a:spcPts val="400"/>
              </a:spcBef>
            </a:pPr>
            <a:br>
              <a:rPr sz="2000" dirty="0"/>
            </a:br>
            <a:r>
              <a:rPr lang="en-US" sz="2000" dirty="0">
                <a:solidFill>
                  <a:srgbClr val="000000"/>
                </a:solidFill>
                <a:latin typeface="Times New Roman"/>
                <a:ea typeface="MS PGothic"/>
              </a:rPr>
              <a:t>Amit Kumar Sah 2210991253</a:t>
            </a:r>
          </a:p>
          <a:p>
            <a:pPr algn="ctr" defTabSz="914400">
              <a:lnSpc>
                <a:spcPct val="100000"/>
              </a:lnSpc>
              <a:spcBef>
                <a:spcPts val="400"/>
              </a:spcBef>
            </a:pPr>
            <a:r>
              <a:rPr lang="en-US" sz="2000" dirty="0">
                <a:solidFill>
                  <a:srgbClr val="000000"/>
                </a:solidFill>
                <a:latin typeface="Times New Roman"/>
                <a:ea typeface="MS PGothic"/>
              </a:rPr>
              <a:t>Adarsh Ranjan  2210991179</a:t>
            </a:r>
          </a:p>
          <a:p>
            <a:pPr algn="ctr" defTabSz="914400">
              <a:lnSpc>
                <a:spcPct val="100000"/>
              </a:lnSpc>
              <a:spcBef>
                <a:spcPts val="400"/>
              </a:spcBef>
            </a:pPr>
            <a:r>
              <a:rPr lang="en-US" sz="2000">
                <a:solidFill>
                  <a:srgbClr val="000000"/>
                </a:solidFill>
                <a:latin typeface="Times New Roman"/>
                <a:ea typeface="MS PGothic"/>
              </a:rPr>
              <a:t>Ashish Ranjan  2210991402</a:t>
            </a:r>
          </a:p>
          <a:p>
            <a:pPr algn="ctr" defTabSz="914400">
              <a:lnSpc>
                <a:spcPct val="100000"/>
              </a:lnSpc>
              <a:spcBef>
                <a:spcPts val="400"/>
              </a:spcBef>
            </a:pP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Ajay Kumar</a:t>
            </a: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0" u="none" strike="noStrike">
                <a:solidFill>
                  <a:schemeClr val="dk1"/>
                </a:solidFill>
                <a:effectLst/>
                <a:uFillTx/>
                <a:latin typeface="Times New Roman"/>
                <a:ea typeface="DejaVu Sans"/>
              </a:rPr>
              <a:t>Introduction</a:t>
            </a:r>
            <a:endParaRPr lang="en-US" sz="3200" b="0" u="none" strike="noStrike">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88589" y="1368077"/>
            <a:ext cx="8964311" cy="53533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pPr>
            <a:r>
              <a:rPr lang="en-US" sz="2000" b="1">
                <a:solidFill>
                  <a:srgbClr val="000000"/>
                </a:solidFill>
                <a:latin typeface="Times New Roman"/>
                <a:ea typeface="DejaVu Sans"/>
              </a:rPr>
              <a:t>1.1</a:t>
            </a:r>
            <a:r>
              <a:rPr lang="en-US" sz="2000" b="1" u="none" strike="noStrike">
                <a:solidFill>
                  <a:srgbClr val="000000"/>
                </a:solidFill>
                <a:effectLst/>
                <a:uFillTx/>
                <a:latin typeface="Times New Roman"/>
                <a:ea typeface="DejaVu Sans"/>
              </a:rPr>
              <a:t> Background</a:t>
            </a:r>
            <a:endParaRPr lang="en-US" sz="2000" b="0" u="none" strike="noStrike">
              <a:solidFill>
                <a:srgbClr val="000000"/>
              </a:solidFill>
              <a:effectLst/>
              <a:uFillTx/>
              <a:latin typeface="Arial"/>
            </a:endParaRPr>
          </a:p>
          <a:p>
            <a:pPr marL="285750" indent="-285750">
              <a:buFont typeface="Arial" panose="020B0604020202020204" pitchFamily="34" charset="0"/>
              <a:buChar char="•"/>
            </a:pPr>
            <a:r>
              <a:rPr lang="en-US" sz="1600" b="1">
                <a:ea typeface="+mn-lt"/>
                <a:cs typeface="+mn-lt"/>
              </a:rPr>
              <a:t>Manual Management:</a:t>
            </a:r>
            <a:r>
              <a:rPr lang="en-US" sz="1600">
                <a:ea typeface="+mn-lt"/>
                <a:cs typeface="+mn-lt"/>
              </a:rPr>
              <a:t> Seminar halls and study rooms are managed manually without a proper system.</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a:ea typeface="+mn-lt"/>
                <a:cs typeface="+mn-lt"/>
              </a:rPr>
              <a:t>Availability Problems:</a:t>
            </a:r>
            <a:r>
              <a:rPr lang="en-US" sz="1600">
                <a:ea typeface="+mn-lt"/>
                <a:cs typeface="+mn-lt"/>
              </a:rPr>
              <a:t> Students do not know if a room is available in real time, which causes wasted time and booking clashes.</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a:ea typeface="+mn-lt"/>
                <a:cs typeface="+mn-lt"/>
              </a:rPr>
              <a:t>Poor Resource Usage:</a:t>
            </a:r>
            <a:r>
              <a:rPr lang="en-US" sz="1600">
                <a:ea typeface="+mn-lt"/>
                <a:cs typeface="+mn-lt"/>
              </a:rPr>
              <a:t> Some users keep spaces occupied for too long because there are no time limits.</a:t>
            </a:r>
            <a:endParaRPr lang="en-US">
              <a:ea typeface="+mn-lt"/>
              <a:cs typeface="+mn-lt"/>
            </a:endParaRP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a:ea typeface="+mn-lt"/>
                <a:cs typeface="+mn-lt"/>
              </a:rPr>
              <a:t>Lack of Monitoring:</a:t>
            </a:r>
            <a:r>
              <a:rPr lang="en-US" sz="1600">
                <a:ea typeface="+mn-lt"/>
                <a:cs typeface="+mn-lt"/>
              </a:rPr>
              <a:t> There is no central system to track room usage or make sure all students get fair access to facilities. </a:t>
            </a:r>
            <a:endParaRPr lang="en-US"/>
          </a:p>
          <a:p>
            <a:endParaRPr lang="en-US" sz="1600" b="1" dirty="0">
              <a:latin typeface="Times New Roman"/>
            </a:endParaRPr>
          </a:p>
          <a:p>
            <a:r>
              <a:rPr lang="en-US" sz="2000" b="1">
                <a:solidFill>
                  <a:srgbClr val="000000"/>
                </a:solidFill>
                <a:latin typeface="Times New Roman"/>
                <a:ea typeface="DejaVu Sans"/>
              </a:rPr>
              <a:t>1.2</a:t>
            </a:r>
            <a:r>
              <a:rPr lang="en-US" sz="2000" b="1" u="none" strike="noStrike">
                <a:solidFill>
                  <a:srgbClr val="000000"/>
                </a:solidFill>
                <a:effectLst/>
                <a:uFillTx/>
                <a:latin typeface="Times New Roman"/>
                <a:ea typeface="DejaVu Sans"/>
              </a:rPr>
              <a:t> Problem Statement</a:t>
            </a:r>
            <a:endParaRPr lang="en-US" sz="2000" b="0" u="none" strike="noStrike">
              <a:solidFill>
                <a:srgbClr val="000000"/>
              </a:solidFill>
              <a:effectLst/>
              <a:uFillTx/>
              <a:latin typeface="Arial"/>
            </a:endParaRPr>
          </a:p>
          <a:p>
            <a:endParaRPr lang="en-US" sz="2000" b="1" dirty="0">
              <a:latin typeface="Times New Roman"/>
              <a:ea typeface="+mn-lt"/>
              <a:cs typeface="+mn-lt"/>
            </a:endParaRPr>
          </a:p>
          <a:p>
            <a:r>
              <a:rPr lang="en-US" dirty="0">
                <a:ea typeface="+mn-lt"/>
                <a:cs typeface="+mn-lt"/>
              </a:rPr>
              <a:t>The current management of shared university spaces is inefficient due to the absence of a centralized digital system. Manual booking processes lead to scheduling conflicts, lack of real-time availability information, poor resource utilization, and unfair access to facilities. Additionally, there is no proper monitoring system to manage room usage effectively.</a:t>
            </a:r>
            <a:endParaRPr lang="en-US" b="1" dirty="0">
              <a:latin typeface="Times New Roman"/>
              <a:ea typeface="+mn-lt"/>
              <a:cs typeface="+mn-lt"/>
            </a:endParaRPr>
          </a:p>
          <a:p>
            <a:endParaRPr lang="en-US" sz="2000" b="1" dirty="0">
              <a:latin typeface="Times New Roman"/>
              <a:ea typeface="+mn-lt"/>
              <a:cs typeface="+mn-lt"/>
            </a:endParaRPr>
          </a:p>
          <a:p>
            <a:endParaRPr lang="en-US" sz="2000" b="1" dirty="0">
              <a:latin typeface="Times New Roman"/>
              <a:ea typeface="+mn-lt"/>
              <a:cs typeface="+mn-lt"/>
            </a:endParaRPr>
          </a:p>
          <a:p>
            <a:pPr>
              <a:spcBef>
                <a:spcPts val="1191"/>
              </a:spcBef>
              <a:spcAft>
                <a:spcPts val="992"/>
              </a:spcAft>
            </a:pPr>
            <a:endParaRPr lang="en-US" sz="1600" b="1" dirty="0">
              <a:ea typeface="+mn-lt"/>
              <a:cs typeface="+mn-lt"/>
            </a:endParaRPr>
          </a:p>
        </p:txBody>
      </p:sp>
      <p:sp>
        <p:nvSpPr>
          <p:cNvPr id="2" name="Rectangle 1">
            <a:extLst>
              <a:ext uri="{FF2B5EF4-FFF2-40B4-BE49-F238E27FC236}">
                <a16:creationId xmlns:a16="http://schemas.microsoft.com/office/drawing/2014/main" id="{7152A11C-6412-5D10-1022-CF06D6CCFB81}"/>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0" i="0" u="none" strike="noStrike" cap="none" normalizeH="0" baseline="0" dirty="0">
              <a:ln>
                <a:noFill/>
              </a:ln>
              <a:effectLst/>
              <a:latin typeface="Google Sans Tex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r>
              <a:rPr lang="en-US" sz="4400" b="1" u="none" strike="noStrike" dirty="0">
                <a:solidFill>
                  <a:schemeClr val="dk1"/>
                </a:solidFill>
                <a:effectLst/>
                <a:uFillTx/>
                <a:latin typeface="Arial"/>
                <a:ea typeface="DejaVu Sans"/>
              </a:rPr>
              <a:t> </a:t>
            </a:r>
            <a:r>
              <a:rPr lang="en-US" sz="2000" b="1">
                <a:solidFill>
                  <a:schemeClr val="dk1"/>
                </a:solidFill>
                <a:latin typeface="Arial"/>
                <a:ea typeface="DejaVu Sans"/>
              </a:rPr>
              <a:t>            Objectives</a:t>
            </a:r>
            <a:br>
              <a:rPr sz="3200" dirty="0"/>
            </a:br>
            <a:endParaRPr lang="en-US" sz="2000" b="0" u="none" strike="noStrike" dirty="0">
              <a:solidFill>
                <a:schemeClr val="dk1"/>
              </a:solidFill>
              <a:effectLst/>
              <a:uFillTx/>
              <a:latin typeface="Arial"/>
            </a:endParaRPr>
          </a:p>
        </p:txBody>
      </p:sp>
      <p:sp>
        <p:nvSpPr>
          <p:cNvPr id="230" name="PlaceHolder 2"/>
          <p:cNvSpPr>
            <a:spLocks noGrp="1"/>
          </p:cNvSpPr>
          <p:nvPr>
            <p:ph/>
          </p:nvPr>
        </p:nvSpPr>
        <p:spPr>
          <a:xfrm>
            <a:off x="141417" y="1228872"/>
            <a:ext cx="8798191" cy="5382168"/>
          </a:xfrm>
          <a:prstGeom prst="rect">
            <a:avLst/>
          </a:prstGeom>
          <a:noFill/>
          <a:ln w="0">
            <a:noFill/>
          </a:ln>
        </p:spPr>
        <p:txBody>
          <a:bodyPr lIns="0" tIns="0" rIns="0" bIns="0" anchor="t">
            <a:normAutofit/>
          </a:bodyPr>
          <a:lstStyle/>
          <a:p>
            <a:pPr>
              <a:spcBef>
                <a:spcPts val="1001"/>
              </a:spcBef>
            </a:pPr>
            <a:r>
              <a:rPr lang="en-IN" sz="1800" dirty="0">
                <a:solidFill>
                  <a:schemeClr val="dk1"/>
                </a:solidFill>
                <a:ea typeface="+mj-lt"/>
                <a:cs typeface="+mj-lt"/>
              </a:rPr>
              <a:t>The main</a:t>
            </a:r>
            <a:r>
              <a:rPr lang="en-IN" sz="1800" b="1" dirty="0">
                <a:solidFill>
                  <a:schemeClr val="dk1"/>
                </a:solidFill>
                <a:ea typeface="+mj-lt"/>
                <a:cs typeface="+mj-lt"/>
              </a:rPr>
              <a:t> objectives</a:t>
            </a:r>
            <a:r>
              <a:rPr lang="en-IN" sz="1800" dirty="0">
                <a:solidFill>
                  <a:schemeClr val="dk1"/>
                </a:solidFill>
                <a:ea typeface="+mj-lt"/>
                <a:cs typeface="+mj-lt"/>
              </a:rPr>
              <a:t> of </a:t>
            </a:r>
            <a:r>
              <a:rPr lang="en-IN" sz="1800" dirty="0" err="1">
                <a:solidFill>
                  <a:schemeClr val="dk1"/>
                </a:solidFill>
                <a:ea typeface="+mj-lt"/>
                <a:cs typeface="+mj-lt"/>
              </a:rPr>
              <a:t>SmartSpace</a:t>
            </a:r>
            <a:r>
              <a:rPr lang="en-IN" sz="1800" dirty="0">
                <a:solidFill>
                  <a:schemeClr val="dk1"/>
                </a:solidFill>
                <a:ea typeface="+mj-lt"/>
                <a:cs typeface="+mj-lt"/>
              </a:rPr>
              <a:t> are to improve the management and utilization of shared university spaces through a smart and centralized digital platform.</a:t>
            </a:r>
            <a:endParaRPr lang="en-US" sz="1800" dirty="0">
              <a:solidFill>
                <a:schemeClr val="dk1"/>
              </a:solidFill>
            </a:endParaRPr>
          </a:p>
          <a:p>
            <a:pPr marL="342900" indent="-342900" algn="just">
              <a:lnSpc>
                <a:spcPct val="119998"/>
              </a:lnSpc>
              <a:spcBef>
                <a:spcPts val="1001"/>
              </a:spcBef>
              <a:buClr>
                <a:srgbClr val="000000"/>
              </a:buClr>
              <a:buAutoNum type="arabicPeriod"/>
            </a:pPr>
            <a:r>
              <a:rPr lang="en-US" sz="1800" b="1">
                <a:ea typeface="+mj-lt"/>
                <a:cs typeface="+mj-lt"/>
              </a:rPr>
              <a:t>Digital Management:</a:t>
            </a:r>
            <a:r>
              <a:rPr lang="en-US" sz="1800">
                <a:ea typeface="+mj-lt"/>
                <a:cs typeface="+mj-lt"/>
              </a:rPr>
              <a:t> Develop a digital system for booking and managing shared university spaces efficiently.</a:t>
            </a:r>
            <a:endParaRPr lang="en-US" sz="1700" b="0" u="none" strike="noStrike">
              <a:effectLst/>
              <a:uFillTx/>
              <a:ea typeface="+mj-lt"/>
              <a:cs typeface="+mj-lt"/>
            </a:endParaRP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a:solidFill>
                  <a:schemeClr val="dk1"/>
                </a:solidFill>
                <a:ea typeface="+mj-lt"/>
                <a:cs typeface="+mj-lt"/>
              </a:rPr>
              <a:t>Role-Based Access:</a:t>
            </a:r>
            <a:r>
              <a:rPr lang="en-US" sz="1800">
                <a:solidFill>
                  <a:schemeClr val="dk1"/>
                </a:solidFill>
                <a:ea typeface="+mj-lt"/>
                <a:cs typeface="+mj-lt"/>
              </a:rPr>
              <a:t> Organize users through roles such as Community Head and Community Member for better management and coordination.</a:t>
            </a:r>
            <a:endParaRPr lang="en-US" sz="1800" dirty="0">
              <a:solidFill>
                <a:schemeClr val="dk1"/>
              </a:solidFill>
              <a:ea typeface="+mj-lt"/>
              <a:cs typeface="+mj-lt"/>
            </a:endParaRP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a:solidFill>
                  <a:schemeClr val="dk1"/>
                </a:solidFill>
                <a:ea typeface="+mj-lt"/>
                <a:cs typeface="+mj-lt"/>
              </a:rPr>
              <a:t>Fair Resource Allocation:</a:t>
            </a:r>
            <a:r>
              <a:rPr lang="en-US" sz="1800">
                <a:solidFill>
                  <a:schemeClr val="dk1"/>
                </a:solidFill>
                <a:ea typeface="+mj-lt"/>
                <a:cs typeface="+mj-lt"/>
              </a:rPr>
              <a:t> Provide fair and transparent access to seminar halls and study rooms for all users.</a:t>
            </a:r>
            <a:endParaRPr lang="en-US" sz="1800" u="none" strike="noStrike" dirty="0">
              <a:solidFill>
                <a:schemeClr val="dk1"/>
              </a:solidFill>
              <a:effectLst/>
              <a:uFillTx/>
              <a:ea typeface="+mj-lt"/>
              <a:cs typeface="+mj-lt"/>
            </a:endParaRPr>
          </a:p>
          <a:p>
            <a:pPr marL="285750" indent="-285750" algn="just">
              <a:lnSpc>
                <a:spcPct val="119998"/>
              </a:lnSpc>
              <a:spcBef>
                <a:spcPts val="1001"/>
              </a:spcBef>
              <a:buClr>
                <a:srgbClr val="000000"/>
              </a:buClr>
              <a:buAutoNum type="arabicPeriod"/>
            </a:pPr>
            <a:r>
              <a:rPr lang="en-US" sz="1800" b="1" dirty="0">
                <a:solidFill>
                  <a:schemeClr val="dk1"/>
                </a:solidFill>
                <a:ea typeface="+mj-lt"/>
                <a:cs typeface="+mj-lt"/>
              </a:rPr>
              <a:t>Efficient Monitoring:</a:t>
            </a:r>
            <a:r>
              <a:rPr lang="en-US" sz="1800" dirty="0">
                <a:solidFill>
                  <a:schemeClr val="dk1"/>
                </a:solidFill>
                <a:ea typeface="+mj-lt"/>
                <a:cs typeface="+mj-lt"/>
              </a:rPr>
              <a:t> Improve the monitoring and utilization of university resources through centralized management.</a:t>
            </a: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a:solidFill>
                  <a:schemeClr val="dk1"/>
                </a:solidFill>
                <a:ea typeface="+mj-lt"/>
                <a:cs typeface="+mj-lt"/>
              </a:rPr>
              <a:t>Time-Based Usage Control:</a:t>
            </a:r>
            <a:r>
              <a:rPr lang="en-US" sz="1800">
                <a:solidFill>
                  <a:schemeClr val="dk1"/>
                </a:solidFill>
                <a:ea typeface="+mj-lt"/>
                <a:cs typeface="+mj-lt"/>
              </a:rPr>
              <a:t> Set proper time limits for room usage to avoid unnecessary occupation and ensure better availability.</a:t>
            </a:r>
            <a:endParaRPr lang="en-US" sz="1800" dirty="0">
              <a:solidFill>
                <a:schemeClr val="dk1"/>
              </a:solidFill>
              <a:ea typeface="+mj-lt"/>
              <a:cs typeface="+mj-lt"/>
            </a:endParaRPr>
          </a:p>
          <a:p>
            <a:pPr>
              <a:spcBef>
                <a:spcPts val="1001"/>
              </a:spcBef>
              <a:buClr>
                <a:srgbClr val="000000"/>
              </a:buClr>
            </a:pPr>
            <a:endParaRPr lang="en-IN" sz="2000" b="1" dirty="0">
              <a:solidFill>
                <a:schemeClr val="dk1"/>
              </a:solidFill>
              <a:latin typeface="Times New Roman"/>
              <a:ea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3000">
                <a:solidFill>
                  <a:srgbClr val="000000"/>
                </a:solidFill>
                <a:ea typeface="+mn-lt"/>
                <a:cs typeface="+mn-lt"/>
              </a:rPr>
              <a:t>Proposed Solution</a:t>
            </a:r>
            <a:endParaRPr lang="en-US"/>
          </a:p>
        </p:txBody>
      </p:sp>
      <p:sp>
        <p:nvSpPr>
          <p:cNvPr id="232"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954CB02-ED6A-49F1-8128-1148FABE90FA}" type="slidenum">
              <a:rPr lang="en-US" sz="1200" b="1" u="none" strike="noStrike">
                <a:solidFill>
                  <a:srgbClr val="000000"/>
                </a:solidFill>
                <a:effectLst/>
                <a:uFillTx/>
                <a:latin typeface="Calibri"/>
                <a:ea typeface="MS PGothic"/>
              </a:rPr>
              <a:t>4</a:t>
            </a:fld>
            <a:endParaRPr lang="en-US" sz="1200" b="0" u="none" strike="noStrike">
              <a:solidFill>
                <a:srgbClr val="000000"/>
              </a:solidFill>
              <a:effectLst/>
              <a:uFillTx/>
              <a:latin typeface="Arial"/>
            </a:endParaRPr>
          </a:p>
        </p:txBody>
      </p:sp>
      <p:sp>
        <p:nvSpPr>
          <p:cNvPr id="12" name="Rectangle 7">
            <a:extLst>
              <a:ext uri="{FF2B5EF4-FFF2-40B4-BE49-F238E27FC236}">
                <a16:creationId xmlns:a16="http://schemas.microsoft.com/office/drawing/2014/main" id="{0B8A4B3D-BB17-8BBC-427B-8DA6ED9F95BB}"/>
              </a:ext>
            </a:extLst>
          </p:cNvPr>
          <p:cNvSpPr>
            <a:spLocks noGrp="1" noChangeArrowheads="1"/>
          </p:cNvSpPr>
          <p:nvPr>
            <p:ph type="body"/>
          </p:nvPr>
        </p:nvSpPr>
        <p:spPr bwMode="auto">
          <a:xfrm>
            <a:off x="6149" y="943635"/>
            <a:ext cx="9108158" cy="559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nSpc>
                <a:spcPct val="100000"/>
              </a:lnSpc>
              <a:spcAft>
                <a:spcPct val="0"/>
              </a:spcAft>
            </a:pPr>
            <a:r>
              <a:rPr lang="en-US" sz="1800" b="1" dirty="0">
                <a:ea typeface="+mj-lt"/>
                <a:cs typeface="+mj-lt"/>
              </a:rPr>
              <a:t>The proposed system</a:t>
            </a:r>
            <a:r>
              <a:rPr lang="en-US" sz="1800" dirty="0">
                <a:ea typeface="+mj-lt"/>
                <a:cs typeface="+mj-lt"/>
              </a:rPr>
              <a:t> is a smart digital platform designed to manage shared university spaces such as seminar halls, study rooms, and meeting rooms in an easy and organized way. The system helps students and </a:t>
            </a:r>
            <a:r>
              <a:rPr lang="en-US" sz="1800" dirty="0" err="1">
                <a:ea typeface="+mj-lt"/>
                <a:cs typeface="+mj-lt"/>
              </a:rPr>
              <a:t>administrators</a:t>
            </a:r>
            <a:r>
              <a:rPr lang="en-US" sz="1800" dirty="0">
                <a:ea typeface="+mj-lt"/>
                <a:cs typeface="+mj-lt"/>
              </a:rPr>
              <a:t> book</a:t>
            </a:r>
            <a:r>
              <a:rPr kumimoji="0" lang="en-US" sz="1800" b="0" i="0" u="none" strike="noStrike" cap="none" normalizeH="0" baseline="0" dirty="0">
                <a:ln>
                  <a:noFill/>
                </a:ln>
                <a:effectLst/>
                <a:ea typeface="+mj-lt"/>
                <a:cs typeface="+mj-lt"/>
              </a:rPr>
              <a:t>, </a:t>
            </a:r>
            <a:r>
              <a:rPr lang="en-US" sz="1800" dirty="0">
                <a:ea typeface="+mj-lt"/>
                <a:cs typeface="+mj-lt"/>
              </a:rPr>
              <a:t>monitor</a:t>
            </a:r>
            <a:r>
              <a:rPr kumimoji="0" lang="en-US" sz="1800" b="0" i="0" u="none" strike="noStrike" cap="none" normalizeH="0" baseline="0" dirty="0">
                <a:ln>
                  <a:noFill/>
                </a:ln>
                <a:effectLst/>
                <a:ea typeface="+mj-lt"/>
                <a:cs typeface="+mj-lt"/>
              </a:rPr>
              <a:t>, </a:t>
            </a:r>
            <a:r>
              <a:rPr lang="en-US" sz="1800" dirty="0">
                <a:ea typeface="+mj-lt"/>
                <a:cs typeface="+mj-lt"/>
              </a:rPr>
              <a:t>and manage spaces efficiently without manual work.</a:t>
            </a:r>
            <a:endParaRPr lang="en-US" dirty="0">
              <a:ea typeface="+mj-lt"/>
              <a:cs typeface="+mj-lt"/>
            </a:endParaRPr>
          </a:p>
          <a:p>
            <a:pPr>
              <a:lnSpc>
                <a:spcPct val="100000"/>
              </a:lnSpc>
              <a:spcAft>
                <a:spcPct val="0"/>
              </a:spcAft>
            </a:pPr>
            <a:endParaRPr lang="en-US" sz="1800" dirty="0">
              <a:ea typeface="+mj-lt"/>
              <a:cs typeface="+mj-lt"/>
            </a:endParaRPr>
          </a:p>
          <a:p>
            <a:pPr>
              <a:lnSpc>
                <a:spcPct val="100000"/>
              </a:lnSpc>
              <a:spcAft>
                <a:spcPct val="0"/>
              </a:spcAft>
            </a:pPr>
            <a:r>
              <a:rPr lang="en-US" sz="1800" b="1">
                <a:ea typeface="+mj-lt"/>
                <a:cs typeface="+mj-lt"/>
              </a:rPr>
              <a:t>Main Functions of the System:-</a:t>
            </a:r>
            <a:endParaRPr lang="en-US">
              <a:ea typeface="+mj-lt"/>
              <a:cs typeface="+mj-lt"/>
            </a:endParaRPr>
          </a:p>
          <a:p>
            <a:pPr>
              <a:lnSpc>
                <a:spcPct val="100000"/>
              </a:lnSpc>
              <a:spcAft>
                <a:spcPct val="0"/>
              </a:spcAft>
            </a:pPr>
            <a:endParaRPr lang="en-US" sz="1800" dirty="0">
              <a:ea typeface="+mj-lt"/>
              <a:cs typeface="+mj-lt"/>
            </a:endParaRPr>
          </a:p>
          <a:p>
            <a:pPr marL="285750" indent="-285750">
              <a:lnSpc>
                <a:spcPct val="100000"/>
              </a:lnSpc>
              <a:spcAft>
                <a:spcPct val="0"/>
              </a:spcAft>
              <a:buFont typeface="Arial"/>
              <a:buChar char="•"/>
            </a:pPr>
            <a:r>
              <a:rPr lang="en-US" sz="1800" b="1">
                <a:ea typeface="+mj-lt"/>
                <a:cs typeface="+mj-lt"/>
              </a:rPr>
              <a:t>Online Room Booking</a:t>
            </a:r>
            <a:r>
              <a:rPr lang="en-US" sz="1800">
                <a:ea typeface="+mj-lt"/>
                <a:cs typeface="+mj-lt"/>
              </a:rPr>
              <a:t>: Students and faculty can book seminar halls or study rooms online through the system without visiting the office physically.</a:t>
            </a:r>
            <a:endParaRPr lang="en-US" baseline="-25000" err="1">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a:ea typeface="+mj-lt"/>
                <a:cs typeface="+mj-lt"/>
              </a:rPr>
              <a:t>Real-Time Availability Checking</a:t>
            </a:r>
            <a:r>
              <a:rPr lang="en-US" sz="1800">
                <a:ea typeface="+mj-lt"/>
                <a:cs typeface="+mj-lt"/>
              </a:rPr>
              <a:t>: Users can instantly check whether a room is available or already booked, which helps avoid confusion and scheduling conflicts.</a:t>
            </a:r>
            <a:endParaRPr lang="en-US" sz="1800" dirty="0">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Time-Based Booking System</a:t>
            </a:r>
            <a:r>
              <a:rPr lang="en-US" sz="1800" dirty="0">
                <a:ea typeface="+mj-lt"/>
                <a:cs typeface="+mj-lt"/>
              </a:rPr>
              <a:t>: The system allows bookings for a limited time period so that resources are used fairly and no one occupies a room for too long.</a:t>
            </a:r>
            <a:endParaRPr lang="en-US" sz="1800" dirty="0">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Role-Based Access</a:t>
            </a:r>
            <a:r>
              <a:rPr lang="en-US" sz="1800" dirty="0">
                <a:ea typeface="+mj-lt"/>
                <a:cs typeface="+mj-lt"/>
              </a:rPr>
              <a:t>: Different roles such as Community Head and Community Member are provided to manage activities in a structured way. Community Heads can monitor and approve bookings if required.</a:t>
            </a:r>
            <a:endParaRPr lang="en-US" sz="1800" dirty="0">
              <a:latin typeface="Arial" panose="020B0604020202020204" pitchFamily="34" charset="0"/>
              <a:cs typeface="Arial"/>
            </a:endParaRPr>
          </a:p>
          <a:p>
            <a:pPr eaLnBrk="0" fontAlgn="base" hangingPunct="0">
              <a:lnSpc>
                <a:spcPct val="100000"/>
              </a:lnSpc>
              <a:spcAft>
                <a:spcPct val="0"/>
              </a:spcAft>
            </a:pPr>
            <a:endParaRPr lang="en-US" altLang="en-US" sz="1800" dirty="0">
              <a:latin typeface="Arial" panose="020B0604020202020204" pitchFamily="34" charset="0"/>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0" y="0"/>
            <a:ext cx="6931440" cy="913680"/>
          </a:xfrm>
          <a:prstGeom prst="rect">
            <a:avLst/>
          </a:prstGeom>
          <a:noFill/>
          <a:ln w="0">
            <a:noFill/>
          </a:ln>
        </p:spPr>
        <p:txBody>
          <a:bodyPr lIns="0" tIns="0" rIns="0" bIns="0" anchor="ctr">
            <a:noAutofit/>
          </a:bodyPr>
          <a:lstStyle/>
          <a:p>
            <a:r>
              <a:rPr lang="en-US" sz="2000" b="0" u="none" strike="noStrike" dirty="0">
                <a:solidFill>
                  <a:schemeClr val="dk1"/>
                </a:solidFill>
                <a:effectLst/>
                <a:uFillTx/>
                <a:latin typeface="Arial"/>
              </a:rPr>
              <a:t>   </a:t>
            </a:r>
            <a:r>
              <a:rPr lang="en-US" sz="3200">
                <a:solidFill>
                  <a:schemeClr val="dk1"/>
                </a:solidFill>
                <a:latin typeface="Arial"/>
              </a:rPr>
              <a:t>   </a:t>
            </a:r>
            <a:r>
              <a:rPr lang="en-US" sz="3200" dirty="0">
                <a:solidFill>
                  <a:schemeClr val="dk1"/>
                </a:solidFill>
                <a:latin typeface="Arial"/>
              </a:rPr>
              <a:t>Project </a:t>
            </a:r>
            <a:r>
              <a:rPr lang="en-US" sz="3200" b="0" u="none" strike="noStrike" dirty="0">
                <a:solidFill>
                  <a:schemeClr val="dk1"/>
                </a:solidFill>
                <a:effectLst/>
                <a:uFillTx/>
                <a:latin typeface="Arial"/>
              </a:rPr>
              <a:t> </a:t>
            </a:r>
            <a:r>
              <a:rPr lang="en-US" sz="3200" dirty="0">
                <a:solidFill>
                  <a:schemeClr val="dk1"/>
                </a:solidFill>
                <a:latin typeface="Arial"/>
              </a:rPr>
              <a:t>S</a:t>
            </a:r>
            <a:r>
              <a:rPr lang="en-US" sz="3200" b="0" u="none" strike="noStrike" dirty="0">
                <a:solidFill>
                  <a:schemeClr val="dk1"/>
                </a:solidFill>
                <a:effectLst/>
                <a:uFillTx/>
                <a:latin typeface="Arial"/>
              </a:rPr>
              <a:t>tructure</a:t>
            </a:r>
          </a:p>
        </p:txBody>
      </p:sp>
      <p:pic>
        <p:nvPicPr>
          <p:cNvPr id="3" name="Picture 2">
            <a:extLst>
              <a:ext uri="{FF2B5EF4-FFF2-40B4-BE49-F238E27FC236}">
                <a16:creationId xmlns:a16="http://schemas.microsoft.com/office/drawing/2014/main" id="{21F6D3AD-36CB-57DD-1A87-78AD48357688}"/>
              </a:ext>
            </a:extLst>
          </p:cNvPr>
          <p:cNvPicPr>
            <a:picLocks noChangeAspect="1"/>
          </p:cNvPicPr>
          <p:nvPr/>
        </p:nvPicPr>
        <p:blipFill>
          <a:blip r:embed="rId2"/>
          <a:stretch>
            <a:fillRect/>
          </a:stretch>
        </p:blipFill>
        <p:spPr>
          <a:xfrm>
            <a:off x="218881" y="913679"/>
            <a:ext cx="8559359" cy="57333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0" u="none" strike="noStrike" dirty="0">
                <a:solidFill>
                  <a:schemeClr val="dk1"/>
                </a:solidFill>
                <a:effectLst/>
                <a:uFillTx/>
                <a:latin typeface="Arial"/>
                <a:ea typeface="DejaVu Sans"/>
              </a:rPr>
              <a:t>		</a:t>
            </a:r>
            <a:r>
              <a:rPr lang="en-US" sz="2000" b="1" u="sng" strike="noStrike" dirty="0">
                <a:solidFill>
                  <a:schemeClr val="dk1"/>
                </a:solidFill>
                <a:effectLst/>
                <a:uFillTx/>
                <a:latin typeface="Times New Roman"/>
                <a:ea typeface="Calibri"/>
              </a:rPr>
              <a:t>TECHNOLOGIES AND TOOLS</a:t>
            </a:r>
            <a:endParaRPr lang="en-US" sz="2000" b="0" u="none" strike="noStrike" dirty="0">
              <a:solidFill>
                <a:schemeClr val="dk1"/>
              </a:solidFill>
              <a:effectLst/>
              <a:uFillTx/>
              <a:latin typeface="Arial"/>
            </a:endParaRPr>
          </a:p>
        </p:txBody>
      </p:sp>
      <p:sp>
        <p:nvSpPr>
          <p:cNvPr id="240" name="TextBox 2"/>
          <p:cNvSpPr/>
          <p:nvPr/>
        </p:nvSpPr>
        <p:spPr>
          <a:xfrm>
            <a:off x="265525" y="1160353"/>
            <a:ext cx="8091720" cy="47998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err="1">
                <a:ea typeface="+mn-lt"/>
                <a:cs typeface="+mn-lt"/>
              </a:rPr>
              <a:t>SmartSpace</a:t>
            </a:r>
            <a:r>
              <a:rPr lang="en-US" sz="1600" dirty="0">
                <a:ea typeface="+mn-lt"/>
                <a:cs typeface="+mn-lt"/>
              </a:rPr>
              <a:t> is built using the </a:t>
            </a:r>
            <a:r>
              <a:rPr lang="en-US" sz="1600" b="1" dirty="0">
                <a:ea typeface="+mn-lt"/>
                <a:cs typeface="+mn-lt"/>
              </a:rPr>
              <a:t>MERN Stack</a:t>
            </a:r>
            <a:r>
              <a:rPr lang="en-US" sz="1600" dirty="0">
                <a:ea typeface="+mn-lt"/>
                <a:cs typeface="+mn-lt"/>
              </a:rPr>
              <a:t>, which provides a scalable, secure, and centralized platform for managing shared university resources efficiently.</a:t>
            </a:r>
            <a:endParaRPr lang="en-US" dirty="0">
              <a:ea typeface="+mn-lt"/>
              <a:cs typeface="+mn-lt"/>
            </a:endParaRPr>
          </a:p>
          <a:p>
            <a:endParaRPr lang="en-US" sz="1600" dirty="0">
              <a:cs typeface="Arial"/>
            </a:endParaRPr>
          </a:p>
          <a:p>
            <a:r>
              <a:rPr lang="en-US" sz="1600" b="1">
                <a:ea typeface="+mn-lt"/>
                <a:cs typeface="+mn-lt"/>
              </a:rPr>
              <a:t>Technologies:-</a:t>
            </a:r>
            <a:endParaRPr lang="en-US" b="1"/>
          </a:p>
          <a:p>
            <a:endParaRPr lang="en-US" sz="1600" b="1" dirty="0">
              <a:cs typeface="Arial"/>
            </a:endParaRPr>
          </a:p>
          <a:p>
            <a:pPr marL="285750" indent="-285750">
              <a:buFont typeface="Arial"/>
              <a:buChar char="•"/>
            </a:pPr>
            <a:r>
              <a:rPr lang="en-US" sz="1600" b="1">
                <a:cs typeface="Arial"/>
              </a:rPr>
              <a:t>React.js (with Vite): </a:t>
            </a:r>
            <a:r>
              <a:rPr lang="en-US" sz="1600">
                <a:ea typeface="+mn-lt"/>
                <a:cs typeface="+mn-lt"/>
              </a:rPr>
              <a:t>Used to create a fast, dynamic, and user-friendly interface.</a:t>
            </a:r>
            <a:endParaRPr lang="en-US" sz="1600" dirty="0">
              <a:cs typeface="Arial"/>
            </a:endParaRPr>
          </a:p>
          <a:p>
            <a:pPr marL="285750" indent="-285750">
              <a:buFont typeface="Arial"/>
              <a:buChar char="•"/>
            </a:pPr>
            <a:endParaRPr lang="en-US" sz="1600" dirty="0">
              <a:cs typeface="Arial"/>
            </a:endParaRPr>
          </a:p>
          <a:p>
            <a:pPr marL="285750" indent="-285750">
              <a:buFont typeface="Arial"/>
              <a:buChar char="•"/>
            </a:pPr>
            <a:r>
              <a:rPr lang="en-US" sz="1600" b="1" dirty="0"/>
              <a:t>Node.js &amp; Express.js:</a:t>
            </a:r>
            <a:r>
              <a:rPr lang="en-US" sz="1600" dirty="0"/>
              <a:t> </a:t>
            </a:r>
            <a:r>
              <a:rPr lang="en-US" sz="1600" dirty="0" err="1"/>
              <a:t>T</a:t>
            </a:r>
            <a:r>
              <a:rPr lang="en-US" sz="1600" dirty="0" err="1">
                <a:ea typeface="+mn-lt"/>
                <a:cs typeface="+mn-lt"/>
              </a:rPr>
              <a:t>Handles</a:t>
            </a:r>
            <a:r>
              <a:rPr lang="en-US" sz="1600" dirty="0">
                <a:ea typeface="+mn-lt"/>
                <a:cs typeface="+mn-lt"/>
              </a:rPr>
              <a:t> the server-side operations of the application.</a:t>
            </a:r>
            <a:endParaRPr lang="en-US" sz="1600" dirty="0"/>
          </a:p>
          <a:p>
            <a:pPr marL="285750" indent="-285750">
              <a:buFont typeface="Arial"/>
              <a:buChar char="•"/>
            </a:pPr>
            <a:endParaRPr lang="en-US" sz="1600" dirty="0">
              <a:cs typeface="Arial"/>
            </a:endParaRPr>
          </a:p>
          <a:p>
            <a:pPr marL="285750" indent="-285750">
              <a:buFont typeface="Arial"/>
              <a:buChar char="•"/>
            </a:pPr>
            <a:r>
              <a:rPr lang="en-US" sz="1600" b="1"/>
              <a:t>MongoDB:</a:t>
            </a:r>
            <a:r>
              <a:rPr lang="en-US" sz="1600" dirty="0"/>
              <a:t> </a:t>
            </a:r>
            <a:r>
              <a:rPr lang="en-US" sz="1600">
                <a:ea typeface="+mn-lt"/>
                <a:cs typeface="+mn-lt"/>
              </a:rPr>
              <a:t>A NoSQL database used to store application data efficiently.</a:t>
            </a:r>
          </a:p>
          <a:p>
            <a:pPr marL="285750" indent="-285750">
              <a:buFont typeface="Arial"/>
              <a:buChar char="•"/>
            </a:pPr>
            <a:endParaRPr lang="en-US" sz="1600" dirty="0">
              <a:cs typeface="Arial"/>
            </a:endParaRPr>
          </a:p>
          <a:p>
            <a:pPr marL="285750" indent="-285750">
              <a:buFont typeface="Arial"/>
              <a:buChar char="•"/>
            </a:pPr>
            <a:r>
              <a:rPr lang="en-US" sz="1600" b="1"/>
              <a:t>JWT (JSON Web Tokens):</a:t>
            </a:r>
            <a:r>
              <a:rPr lang="en-US" sz="1600" dirty="0"/>
              <a:t> </a:t>
            </a:r>
            <a:r>
              <a:rPr lang="en-US" sz="1600">
                <a:ea typeface="+mn-lt"/>
                <a:cs typeface="+mn-lt"/>
              </a:rPr>
              <a:t>Used for secure user authentication and authorization.</a:t>
            </a:r>
          </a:p>
          <a:p>
            <a:pPr marL="285750" indent="-285750">
              <a:buFont typeface="Arial"/>
              <a:buChar char="•"/>
            </a:pPr>
            <a:endParaRPr lang="en-US" sz="1600" dirty="0">
              <a:cs typeface="Arial"/>
            </a:endParaRPr>
          </a:p>
          <a:p>
            <a:pPr marL="285750" indent="-285750">
              <a:buFont typeface="Arial"/>
              <a:buChar char="•"/>
            </a:pPr>
            <a:r>
              <a:rPr lang="en-US" sz="1600" b="1"/>
              <a:t>Tailwind CSS:</a:t>
            </a:r>
            <a:r>
              <a:rPr lang="en-US" sz="1600" dirty="0"/>
              <a:t> </a:t>
            </a:r>
            <a:r>
              <a:rPr lang="en-US" sz="1600">
                <a:ea typeface="+mn-lt"/>
                <a:cs typeface="+mn-lt"/>
              </a:rPr>
              <a:t>Used for designing a clean, responsive, and professional interface.</a:t>
            </a:r>
          </a:p>
          <a:p>
            <a:pPr marL="285750" indent="-285750">
              <a:buFont typeface="Arial"/>
              <a:buChar char="•"/>
            </a:pPr>
            <a:endParaRPr lang="en-US" sz="1600" dirty="0">
              <a:cs typeface="Arial"/>
            </a:endParaRPr>
          </a:p>
          <a:p>
            <a:pPr marL="285750" indent="-285750">
              <a:buFont typeface="Arial"/>
              <a:buChar char="•"/>
            </a:pPr>
            <a:r>
              <a:rPr lang="en-US" sz="1600" b="1"/>
              <a:t>REST APIs: </a:t>
            </a:r>
            <a:r>
              <a:rPr lang="en-US" sz="1600">
                <a:ea typeface="+mn-lt"/>
                <a:cs typeface="+mn-lt"/>
              </a:rPr>
              <a:t>Enable smooth communication between the frontend and backend.</a:t>
            </a:r>
          </a:p>
          <a:p>
            <a:endParaRPr lang="en-US" sz="1600" dirty="0"/>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1273277" y="-119689"/>
            <a:ext cx="8229240" cy="1144800"/>
          </a:xfrm>
        </p:spPr>
        <p:txBody>
          <a:bodyPr/>
          <a:lstStyle/>
          <a:p>
            <a:r>
              <a:rPr lang="en-US" sz="2400" b="1" u="sng" dirty="0">
                <a:latin typeface="Times New Roman" panose="02020603050405020304" pitchFamily="18" charset="0"/>
                <a:cs typeface="Times New Roman" panose="02020603050405020304" pitchFamily="18" charset="0"/>
              </a:rPr>
              <a:t>VISUAL REPRESENTATION</a:t>
            </a:r>
          </a:p>
        </p:txBody>
      </p:sp>
      <p:pic>
        <p:nvPicPr>
          <p:cNvPr id="4" name="Picture 3">
            <a:extLst>
              <a:ext uri="{FF2B5EF4-FFF2-40B4-BE49-F238E27FC236}">
                <a16:creationId xmlns:a16="http://schemas.microsoft.com/office/drawing/2014/main" id="{16347FB3-4F06-3A8E-FBFC-58887818511D}"/>
              </a:ext>
            </a:extLst>
          </p:cNvPr>
          <p:cNvPicPr>
            <a:picLocks noChangeAspect="1"/>
          </p:cNvPicPr>
          <p:nvPr/>
        </p:nvPicPr>
        <p:blipFill>
          <a:blip r:embed="rId2"/>
          <a:stretch>
            <a:fillRect/>
          </a:stretch>
        </p:blipFill>
        <p:spPr>
          <a:xfrm>
            <a:off x="0" y="877824"/>
            <a:ext cx="9144000" cy="5766816"/>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1209368" y="0"/>
            <a:ext cx="5485680" cy="913680"/>
          </a:xfrm>
        </p:spPr>
        <p:txBody>
          <a:bodyPr/>
          <a:lstStyle/>
          <a:p>
            <a:r>
              <a:rPr lang="en-US" sz="2400" b="1" u="sng" dirty="0">
                <a:latin typeface="Times New Roman" panose="02020603050405020304" pitchFamily="18" charset="0"/>
                <a:cs typeface="Times New Roman" panose="02020603050405020304" pitchFamily="18" charset="0"/>
              </a:rPr>
              <a:t>VISUAL REPRESENTATION</a:t>
            </a:r>
            <a:endParaRPr lang="en-US" sz="2400" dirty="0"/>
          </a:p>
        </p:txBody>
      </p:sp>
      <p:pic>
        <p:nvPicPr>
          <p:cNvPr id="4" name="Picture 3">
            <a:extLst>
              <a:ext uri="{FF2B5EF4-FFF2-40B4-BE49-F238E27FC236}">
                <a16:creationId xmlns:a16="http://schemas.microsoft.com/office/drawing/2014/main" id="{0DCF08D3-C7C1-0C87-66B1-2C85B9908060}"/>
              </a:ext>
            </a:extLst>
          </p:cNvPr>
          <p:cNvPicPr>
            <a:picLocks noChangeAspect="1"/>
          </p:cNvPicPr>
          <p:nvPr/>
        </p:nvPicPr>
        <p:blipFill>
          <a:blip r:embed="rId2"/>
          <a:stretch>
            <a:fillRect/>
          </a:stretch>
        </p:blipFill>
        <p:spPr>
          <a:xfrm>
            <a:off x="0" y="1060704"/>
            <a:ext cx="9144000" cy="5596128"/>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1288026" y="0"/>
            <a:ext cx="5485680" cy="913680"/>
          </a:xfrm>
        </p:spPr>
        <p:txBody>
          <a:bodyPr/>
          <a:lstStyle/>
          <a:p>
            <a:r>
              <a:rPr lang="en-US" sz="1800" b="1" u="sng">
                <a:latin typeface="Times New Roman" panose="02020603050405020304" pitchFamily="18" charset="0"/>
                <a:cs typeface="Times New Roman" panose="02020603050405020304" pitchFamily="18" charset="0"/>
              </a:rPr>
              <a:t>VISUAL REPRESENTATION</a:t>
            </a:r>
            <a:endParaRPr lang="en-US" sz="1800"/>
          </a:p>
        </p:txBody>
      </p:sp>
      <p:pic>
        <p:nvPicPr>
          <p:cNvPr id="4" name="Picture 3">
            <a:extLst>
              <a:ext uri="{FF2B5EF4-FFF2-40B4-BE49-F238E27FC236}">
                <a16:creationId xmlns:a16="http://schemas.microsoft.com/office/drawing/2014/main" id="{369B13AA-E59A-2147-4A53-471AC0BB4CFB}"/>
              </a:ext>
            </a:extLst>
          </p:cNvPr>
          <p:cNvPicPr>
            <a:picLocks noChangeAspect="1"/>
          </p:cNvPicPr>
          <p:nvPr/>
        </p:nvPicPr>
        <p:blipFill>
          <a:blip r:embed="rId2"/>
          <a:stretch>
            <a:fillRect/>
          </a:stretch>
        </p:blipFill>
        <p:spPr>
          <a:xfrm>
            <a:off x="0" y="913680"/>
            <a:ext cx="9144000" cy="5706575"/>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a:solidFill>
                  <a:schemeClr val="dk1"/>
                </a:solidFill>
                <a:effectLst/>
                <a:uFillTx/>
                <a:latin typeface="Arial"/>
                <a:ea typeface="DejaVu Sans"/>
              </a:rPr>
              <a:t>Future Scope</a:t>
            </a:r>
            <a:endParaRPr lang="en-US" sz="2000" b="0" u="none" strike="noStrike">
              <a:solidFill>
                <a:schemeClr val="dk1"/>
              </a:solidFill>
              <a:effectLst/>
              <a:uFillTx/>
              <a:latin typeface="Arial"/>
            </a:endParaRPr>
          </a:p>
        </p:txBody>
      </p:sp>
      <p:sp>
        <p:nvSpPr>
          <p:cNvPr id="242" name="TextBox 3"/>
          <p:cNvSpPr/>
          <p:nvPr/>
        </p:nvSpPr>
        <p:spPr>
          <a:xfrm>
            <a:off x="268381" y="913680"/>
            <a:ext cx="8521854" cy="483063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1600" dirty="0">
                <a:ea typeface="+mn-lt"/>
                <a:cs typeface="+mn-lt"/>
              </a:rPr>
              <a:t>The </a:t>
            </a:r>
            <a:r>
              <a:rPr lang="en-US" sz="1600" b="1" dirty="0" err="1">
                <a:ea typeface="+mn-lt"/>
                <a:cs typeface="+mn-lt"/>
              </a:rPr>
              <a:t>SmartSpace</a:t>
            </a:r>
            <a:r>
              <a:rPr lang="en-US" sz="1600" dirty="0">
                <a:ea typeface="+mn-lt"/>
                <a:cs typeface="+mn-lt"/>
              </a:rPr>
              <a:t> system can be improved further by adding more advanced features and technologies in the future. These improvements will make the platform smarter, more secure, and more useful for students and universities.</a:t>
            </a:r>
            <a:endParaRPr lang="en-US" dirty="0">
              <a:ea typeface="+mn-lt"/>
              <a:cs typeface="+mn-lt"/>
            </a:endParaRPr>
          </a:p>
          <a:p>
            <a:endParaRPr lang="en-US" sz="1600" dirty="0"/>
          </a:p>
          <a:p>
            <a:pPr marL="342900" indent="-342900">
              <a:buAutoNum type="arabicPeriod"/>
            </a:pPr>
            <a:r>
              <a:rPr lang="en-US" sz="1600" b="1">
                <a:ea typeface="+mn-lt"/>
                <a:cs typeface="+mn-lt"/>
              </a:rPr>
              <a:t>QR Code Access:</a:t>
            </a:r>
            <a:r>
              <a:rPr lang="en-US" sz="1600">
                <a:ea typeface="+mn-lt"/>
                <a:cs typeface="+mn-lt"/>
              </a:rPr>
              <a:t> Add QR code-based room entry and verification.</a:t>
            </a:r>
            <a:endParaRPr lang="en-US"/>
          </a:p>
          <a:p>
            <a:pPr marL="342900" indent="-342900">
              <a:buAutoNum type="arabicPeriod"/>
            </a:pPr>
            <a:endParaRPr lang="en-US" sz="1600" dirty="0">
              <a:ea typeface="+mn-lt"/>
              <a:cs typeface="+mn-lt"/>
            </a:endParaRPr>
          </a:p>
          <a:p>
            <a:pPr marL="342900" indent="-342900">
              <a:buAutoNum type="arabicPeriod"/>
            </a:pPr>
            <a:r>
              <a:rPr lang="en-US" sz="1600" b="1">
                <a:ea typeface="+mn-lt"/>
                <a:cs typeface="+mn-lt"/>
              </a:rPr>
              <a:t>Automatic Expiry:</a:t>
            </a:r>
            <a:r>
              <a:rPr lang="en-US" sz="1600">
                <a:ea typeface="+mn-lt"/>
                <a:cs typeface="+mn-lt"/>
              </a:rPr>
              <a:t> Introduce automatic cancellation for unused bookings.</a:t>
            </a:r>
            <a:endParaRPr lang="en-US" sz="1600" dirty="0">
              <a:cs typeface="Arial"/>
            </a:endParaRPr>
          </a:p>
          <a:p>
            <a:pPr marL="342900" indent="-342900">
              <a:buAutoNum type="arabicPeriod"/>
            </a:pPr>
            <a:endParaRPr lang="en-US" sz="1600" dirty="0">
              <a:ea typeface="+mn-lt"/>
              <a:cs typeface="+mn-lt"/>
            </a:endParaRPr>
          </a:p>
          <a:p>
            <a:pPr marL="342900" indent="-342900">
              <a:buAutoNum type="arabicPeriod"/>
            </a:pPr>
            <a:r>
              <a:rPr lang="en-US" sz="1600" b="1">
                <a:ea typeface="+mn-lt"/>
                <a:cs typeface="+mn-lt"/>
              </a:rPr>
              <a:t>Smart Notifications:</a:t>
            </a:r>
            <a:r>
              <a:rPr lang="en-US" sz="1600">
                <a:ea typeface="+mn-lt"/>
                <a:cs typeface="+mn-lt"/>
              </a:rPr>
              <a:t> Add reminders and booking updates for users.</a:t>
            </a:r>
            <a:endParaRPr lang="en-US" sz="1600" dirty="0">
              <a:cs typeface="Arial"/>
            </a:endParaRPr>
          </a:p>
          <a:p>
            <a:pPr marL="342900" indent="-342900">
              <a:buAutoNum type="arabicPeriod"/>
            </a:pPr>
            <a:endParaRPr lang="en-US" sz="1600" dirty="0">
              <a:ea typeface="+mn-lt"/>
              <a:cs typeface="+mn-lt"/>
            </a:endParaRPr>
          </a:p>
          <a:p>
            <a:pPr marL="342900" indent="-342900">
              <a:buAutoNum type="arabicPeriod"/>
            </a:pPr>
            <a:r>
              <a:rPr lang="en-US" sz="1600" b="1">
                <a:ea typeface="+mn-lt"/>
                <a:cs typeface="+mn-lt"/>
              </a:rPr>
              <a:t>Mobile Application:</a:t>
            </a:r>
            <a:r>
              <a:rPr lang="en-US" sz="1600">
                <a:ea typeface="+mn-lt"/>
                <a:cs typeface="+mn-lt"/>
              </a:rPr>
              <a:t> Develop a mobile app for easier access.</a:t>
            </a:r>
            <a:endParaRPr lang="en-US" sz="1600" dirty="0">
              <a:cs typeface="Arial"/>
            </a:endParaRPr>
          </a:p>
          <a:p>
            <a:pPr marL="342900" indent="-342900">
              <a:buAutoNum type="arabicPeriod"/>
            </a:pPr>
            <a:endParaRPr lang="en-US" sz="1600" dirty="0">
              <a:ea typeface="+mn-lt"/>
              <a:cs typeface="+mn-lt"/>
            </a:endParaRPr>
          </a:p>
          <a:p>
            <a:pPr marL="342900" indent="-342900">
              <a:buAutoNum type="arabicPeriod"/>
            </a:pPr>
            <a:r>
              <a:rPr lang="en-US" sz="1600" b="1">
                <a:ea typeface="+mn-lt"/>
                <a:cs typeface="+mn-lt"/>
              </a:rPr>
              <a:t>University Integration:</a:t>
            </a:r>
            <a:r>
              <a:rPr lang="en-US" sz="1600">
                <a:ea typeface="+mn-lt"/>
                <a:cs typeface="+mn-lt"/>
              </a:rPr>
              <a:t> Connect the system with university portals and student IDs.</a:t>
            </a:r>
            <a:endParaRPr lang="en-US" sz="1600" dirty="0">
              <a:cs typeface="Arial"/>
            </a:endParaRPr>
          </a:p>
          <a:p>
            <a:endParaRPr lang="en-US" sz="1600" dirty="0"/>
          </a:p>
          <a:p>
            <a:endParaRPr lang="en-US" sz="1600" dirty="0"/>
          </a:p>
          <a:p>
            <a:endParaRPr lang="en-US" sz="1600" dirty="0"/>
          </a:p>
          <a:p>
            <a:pPr defTabSz="914400">
              <a:lnSpc>
                <a:spcPct val="100000"/>
              </a:lnSpc>
              <a:tabLst>
                <a:tab pos="457200" algn="l"/>
              </a:tabLst>
            </a:pPr>
            <a:endParaRPr lang="en-US" sz="16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a:solidFill>
                  <a:schemeClr val="dk1"/>
                </a:solidFill>
                <a:effectLst/>
                <a:uFillTx/>
                <a:latin typeface="Arial"/>
                <a:ea typeface="DejaVu Sans"/>
              </a:rPr>
              <a:t>Conclusion</a:t>
            </a:r>
            <a:endParaRPr lang="en-US" sz="2000" b="0" u="none" strike="noStrike">
              <a:solidFill>
                <a:schemeClr val="dk1"/>
              </a:solidFill>
              <a:effectLst/>
              <a:uFillTx/>
              <a:latin typeface="Arial"/>
            </a:endParaRPr>
          </a:p>
        </p:txBody>
      </p:sp>
      <p:sp>
        <p:nvSpPr>
          <p:cNvPr id="244" name="TextBox 3"/>
          <p:cNvSpPr/>
          <p:nvPr/>
        </p:nvSpPr>
        <p:spPr>
          <a:xfrm>
            <a:off x="100760" y="913680"/>
            <a:ext cx="8836240" cy="209142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endParaRPr lang="en-US" sz="1600" b="1" dirty="0">
              <a:ea typeface="+mn-lt"/>
              <a:cs typeface="+mn-lt"/>
            </a:endParaRPr>
          </a:p>
          <a:p>
            <a:r>
              <a:rPr lang="en-US" sz="1600" b="1" dirty="0" err="1">
                <a:ea typeface="+mn-lt"/>
                <a:cs typeface="+mn-lt"/>
              </a:rPr>
              <a:t>SmartSpace</a:t>
            </a:r>
            <a:r>
              <a:rPr lang="en-US" sz="1600" dirty="0">
                <a:ea typeface="+mn-lt"/>
                <a:cs typeface="+mn-lt"/>
              </a:rPr>
              <a:t> provides a smart and efficient solution for managing shared university spaces digitally. The system helps students and administrators easily book and monitor seminar halls and study rooms in real time. By reducing manual work, avoiding booking conflicts, and ensuring fair resource usage, </a:t>
            </a:r>
            <a:r>
              <a:rPr lang="en-US" sz="1600" dirty="0" err="1">
                <a:ea typeface="+mn-lt"/>
                <a:cs typeface="+mn-lt"/>
              </a:rPr>
              <a:t>SmartSpace</a:t>
            </a:r>
            <a:r>
              <a:rPr lang="en-US" sz="1600" dirty="0">
                <a:ea typeface="+mn-lt"/>
                <a:cs typeface="+mn-lt"/>
              </a:rPr>
              <a:t> improves overall campus management and creates a more organized and user-friendly environment.</a:t>
            </a:r>
            <a:endParaRPr lang="en-US">
              <a:ea typeface="+mn-lt"/>
              <a:cs typeface="+mn-lt"/>
            </a:endParaRPr>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dirty="0">
                <a:solidFill>
                  <a:schemeClr val="dk1"/>
                </a:solidFill>
                <a:effectLst/>
                <a:uFillTx/>
                <a:latin typeface="Arial"/>
                <a:ea typeface="DejaVu Sans"/>
              </a:rPr>
              <a:t>Bibliography/References</a:t>
            </a:r>
            <a:endParaRPr lang="en-US" sz="2000" b="0" u="none" strike="noStrike" dirty="0">
              <a:solidFill>
                <a:schemeClr val="dk1"/>
              </a:solidFill>
              <a:effectLst/>
              <a:uFillTx/>
              <a:latin typeface="Arial"/>
            </a:endParaRPr>
          </a:p>
        </p:txBody>
      </p:sp>
      <p:sp>
        <p:nvSpPr>
          <p:cNvPr id="246" name="TextBox 3"/>
          <p:cNvSpPr/>
          <p:nvPr/>
        </p:nvSpPr>
        <p:spPr>
          <a:xfrm>
            <a:off x="118080" y="913680"/>
            <a:ext cx="8907840" cy="620793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IN" sz="1500" b="1" dirty="0"/>
              <a:t>React (Official Documentation)</a:t>
            </a:r>
            <a:br>
              <a:rPr lang="en-IN" sz="1500" dirty="0"/>
            </a:br>
            <a:r>
              <a:rPr lang="en-IN" sz="1500" dirty="0"/>
              <a:t>Meta. </a:t>
            </a:r>
            <a:r>
              <a:rPr lang="en-IN" sz="1500" i="1" dirty="0"/>
              <a:t>React – A JavaScript Library for Building User Interfaces.</a:t>
            </a:r>
            <a:br>
              <a:rPr lang="en-IN" sz="1500" dirty="0"/>
            </a:br>
            <a:r>
              <a:rPr lang="en-IN" sz="1500" dirty="0">
                <a:hlinkClick r:id="rId2"/>
              </a:rPr>
              <a:t>https://react.dev</a:t>
            </a:r>
            <a:endParaRPr lang="en-IN" sz="1500" dirty="0"/>
          </a:p>
          <a:p>
            <a:endParaRPr lang="en-IN" sz="1500" dirty="0"/>
          </a:p>
          <a:p>
            <a:r>
              <a:rPr lang="en-IN" sz="1500" b="1" dirty="0"/>
              <a:t>Vite (Official Documentation)</a:t>
            </a:r>
            <a:br>
              <a:rPr lang="en-IN" sz="1500" dirty="0"/>
            </a:br>
            <a:r>
              <a:rPr lang="en-IN" sz="1500" dirty="0"/>
              <a:t>Evan You. </a:t>
            </a:r>
            <a:r>
              <a:rPr lang="en-IN" sz="1500" i="1" dirty="0"/>
              <a:t>Vite – Next Generation Frontend Tooling.</a:t>
            </a:r>
            <a:br>
              <a:rPr lang="en-IN" sz="1500" dirty="0"/>
            </a:br>
            <a:r>
              <a:rPr lang="en-IN" sz="1500" dirty="0">
                <a:hlinkClick r:id="rId3"/>
              </a:rPr>
              <a:t>https://vitejs.dev</a:t>
            </a:r>
            <a:endParaRPr lang="en-IN" sz="1500" dirty="0"/>
          </a:p>
          <a:p>
            <a:endParaRPr lang="en-IN" sz="1500" dirty="0"/>
          </a:p>
          <a:p>
            <a:r>
              <a:rPr lang="en-IN" sz="1500" b="1" dirty="0"/>
              <a:t>Tailwind CSS (Official Documentation)</a:t>
            </a:r>
            <a:br>
              <a:rPr lang="en-IN" sz="1500" dirty="0"/>
            </a:br>
            <a:r>
              <a:rPr lang="en-IN" sz="1500" dirty="0"/>
              <a:t>Tailwind Labs. </a:t>
            </a:r>
            <a:r>
              <a:rPr lang="en-IN" sz="1500" i="1" dirty="0"/>
              <a:t>Tailwind CSS – Utility-First CSS Framework.</a:t>
            </a:r>
            <a:br>
              <a:rPr lang="en-IN" sz="1500" dirty="0"/>
            </a:br>
            <a:r>
              <a:rPr lang="en-IN" sz="1500" dirty="0">
                <a:hlinkClick r:id="rId4"/>
              </a:rPr>
              <a:t>https://tailwindcss.com/docs</a:t>
            </a:r>
            <a:endParaRPr lang="en-IN" sz="1500" dirty="0"/>
          </a:p>
          <a:p>
            <a:endParaRPr lang="en-IN" sz="1500" dirty="0"/>
          </a:p>
          <a:p>
            <a:r>
              <a:rPr lang="en-IN" sz="1600" b="1" dirty="0"/>
              <a:t>MongoDB (Official Documentation):</a:t>
            </a:r>
            <a:r>
              <a:rPr lang="en-IN" sz="1600" dirty="0"/>
              <a:t> MongoDB Inc. </a:t>
            </a:r>
            <a:r>
              <a:rPr lang="en-IN" sz="1600" i="1" dirty="0"/>
              <a:t>The Document Database for Modern Applications</a:t>
            </a:r>
            <a:r>
              <a:rPr lang="en-IN" sz="1600" dirty="0"/>
              <a:t>. </a:t>
            </a:r>
            <a:endParaRPr lang="en-IN" sz="1500" b="1" dirty="0"/>
          </a:p>
          <a:p>
            <a:r>
              <a:rPr lang="en-IN" sz="1600" dirty="0">
                <a:hlinkClick r:id="rId5"/>
              </a:rPr>
              <a:t>https://www.mongodb.com/docs</a:t>
            </a:r>
            <a:r>
              <a:rPr lang="en-IN" sz="1600" dirty="0"/>
              <a:t> </a:t>
            </a:r>
            <a:endParaRPr lang="en-IN" sz="1500" b="1"/>
          </a:p>
          <a:p>
            <a:endParaRPr lang="en-IN" sz="1600" dirty="0"/>
          </a:p>
          <a:p>
            <a:r>
              <a:rPr lang="en-IN" sz="1500" b="1" dirty="0"/>
              <a:t>Express.js (Official Documentation)</a:t>
            </a:r>
            <a:br>
              <a:rPr lang="en-IN" sz="1500" dirty="0"/>
            </a:br>
            <a:r>
              <a:rPr lang="en-IN" sz="1500" dirty="0" err="1"/>
              <a:t>OpenJS</a:t>
            </a:r>
            <a:r>
              <a:rPr lang="en-IN" sz="1500" dirty="0"/>
              <a:t> Foundation. </a:t>
            </a:r>
            <a:r>
              <a:rPr lang="en-IN" sz="1500" i="1" dirty="0"/>
              <a:t>Express – Fast, Unopinionated Web Framework for Node.js.</a:t>
            </a:r>
            <a:br>
              <a:rPr lang="en-IN" sz="1500" dirty="0"/>
            </a:br>
            <a:r>
              <a:rPr lang="en-IN" sz="1500" dirty="0">
                <a:hlinkClick r:id="rId6"/>
              </a:rPr>
              <a:t>https://expressjs.com</a:t>
            </a:r>
            <a:endParaRPr lang="en-IN" sz="1500" dirty="0"/>
          </a:p>
          <a:p>
            <a:endParaRPr lang="en-IN" sz="1500" dirty="0"/>
          </a:p>
          <a:p>
            <a:r>
              <a:rPr lang="en-IN" sz="1600" b="1" dirty="0"/>
              <a:t>Node.js (Official Documentation):</a:t>
            </a:r>
            <a:r>
              <a:rPr lang="en-IN" sz="1600" dirty="0"/>
              <a:t> </a:t>
            </a:r>
            <a:r>
              <a:rPr lang="en-IN" sz="1600" dirty="0" err="1"/>
              <a:t>OpenJS</a:t>
            </a:r>
            <a:r>
              <a:rPr lang="en-IN" sz="1600" dirty="0"/>
              <a:t> Foundation. </a:t>
            </a:r>
            <a:r>
              <a:rPr lang="en-IN" sz="1600" i="1" dirty="0"/>
              <a:t>Node.js – JavaScript Runtime built on Chrome's V8 JavaScript engine</a:t>
            </a:r>
            <a:r>
              <a:rPr lang="en-IN" sz="1600" dirty="0"/>
              <a:t>. </a:t>
            </a:r>
          </a:p>
          <a:p>
            <a:r>
              <a:rPr lang="en-IN" sz="1600" dirty="0">
                <a:hlinkClick r:id="rId7"/>
              </a:rPr>
              <a:t>https://nodejs.org/en/docs</a:t>
            </a:r>
            <a:r>
              <a:rPr lang="en-IN" sz="1600" dirty="0"/>
              <a:t> </a:t>
            </a:r>
            <a:endParaRPr lang="en-IN"/>
          </a:p>
          <a:p>
            <a:endParaRPr lang="en-IN" sz="1500" dirty="0"/>
          </a:p>
          <a:p>
            <a:endParaRPr lang="en-IN" sz="1500" dirty="0"/>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13</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35600</TotalTime>
  <Words>1098</Words>
  <Application>Microsoft Office PowerPoint</Application>
  <PresentationFormat>On-screen Show (4:3)</PresentationFormat>
  <Paragraphs>87</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             Objectives </vt:lpstr>
      <vt:lpstr>PowerPoint Presentation</vt:lpstr>
      <vt:lpstr>      Project  Structure</vt:lpstr>
      <vt:lpstr>  TECHNOLOGIES AND TOOLS</vt:lpstr>
      <vt:lpstr>VISUAL REPRESENTATION</vt:lpstr>
      <vt:lpstr>VISUAL REPRESENTATION</vt:lpstr>
      <vt:lpstr>VISUAL REPRESENTATION</vt:lpstr>
      <vt:lpstr>            Future Scope</vt:lpstr>
      <vt:lpstr>            Conclusion</vt:lpstr>
      <vt:lpstr>        Bibliography/References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Amit Kumar</cp:lastModifiedBy>
  <cp:revision>2584</cp:revision>
  <cp:lastPrinted>2026-04-24T08:34:13Z</cp:lastPrinted>
  <dcterms:created xsi:type="dcterms:W3CDTF">2010-04-09T07:36:15Z</dcterms:created>
  <dcterms:modified xsi:type="dcterms:W3CDTF">2026-05-13T16:12:09Z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